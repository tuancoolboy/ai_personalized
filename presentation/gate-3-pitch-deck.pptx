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c5e9c0e4b74ec4" /><Relationship Type="http://schemas.openxmlformats.org/officeDocument/2006/relationships/extended-properties" Target="/docProps/app.xml" Id="R6cbfa90c38834fd5" /><Relationship Type="http://schemas.openxmlformats.org/officeDocument/2006/relationships/officeDocument" Target="/ppt/presentation.xml" Id="R9f7054e7e6ec4c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c7e951509c483a"/>
  </p:sldMasterIdLst>
  <p:notesMasterIdLst>
    <p:notesMasterId xmlns:r="http://schemas.openxmlformats.org/officeDocument/2006/relationships" r:id="R684e0bcf9658442b"/>
  </p:notesMasterIdLst>
  <p:sldIdLst>
    <p:sldId xmlns:r="http://schemas.openxmlformats.org/officeDocument/2006/relationships" id="256" r:id="R55d1eae4ffae463e"/>
    <p:sldId xmlns:r="http://schemas.openxmlformats.org/officeDocument/2006/relationships" id="257" r:id="Ra99174f1f1094fe5"/>
    <p:sldId xmlns:r="http://schemas.openxmlformats.org/officeDocument/2006/relationships" id="258" r:id="R8afcba8dcdb542ed"/>
    <p:sldId xmlns:r="http://schemas.openxmlformats.org/officeDocument/2006/relationships" id="259" r:id="Rcf0a98d8342848d9"/>
    <p:sldId xmlns:r="http://schemas.openxmlformats.org/officeDocument/2006/relationships" id="260" r:id="Rcb1b0bddef604c7b"/>
    <p:sldId xmlns:r="http://schemas.openxmlformats.org/officeDocument/2006/relationships" id="261" r:id="Rbd091f7770304b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9028efdbd34250" /><Relationship Type="http://schemas.openxmlformats.org/officeDocument/2006/relationships/slideMaster" Target="/ppt/slideMasters/slideMaster1.xml" Id="R15c7e951509c483a" /><Relationship Type="http://schemas.openxmlformats.org/officeDocument/2006/relationships/notesMaster" Target="/ppt/notesMasters/notesMaster1.xml" Id="R684e0bcf9658442b" /><Relationship Type="http://schemas.openxmlformats.org/officeDocument/2006/relationships/presProps" Target="/ppt/presProps.xml" Id="R6d637f8544cd4a56" /><Relationship Type="http://schemas.openxmlformats.org/officeDocument/2006/relationships/tableStyles" Target="/ppt/tableStyles.xml" Id="R23ff53ed85f94b73" /><Relationship Type="http://schemas.openxmlformats.org/officeDocument/2006/relationships/slide" Target="/ppt/slides/slide1.xml" Id="R55d1eae4ffae463e" /><Relationship Type="http://schemas.openxmlformats.org/officeDocument/2006/relationships/slide" Target="/ppt/slides/slide2.xml" Id="Ra99174f1f1094fe5" /><Relationship Type="http://schemas.openxmlformats.org/officeDocument/2006/relationships/slide" Target="/ppt/slides/slide3.xml" Id="R8afcba8dcdb542ed" /><Relationship Type="http://schemas.openxmlformats.org/officeDocument/2006/relationships/slide" Target="/ppt/slides/slide4.xml" Id="Rcf0a98d8342848d9" /><Relationship Type="http://schemas.openxmlformats.org/officeDocument/2006/relationships/slide" Target="/ppt/slides/slide5.xml" Id="Rcb1b0bddef604c7b" /><Relationship Type="http://schemas.openxmlformats.org/officeDocument/2006/relationships/slide" Target="/ppt/slides/slide6.xml" Id="Rbd091f777030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094d892cc24a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0152ef9018402a" /><Relationship Type="http://schemas.openxmlformats.org/officeDocument/2006/relationships/notesMaster" Target="/ppt/notesMasters/notesMaster1.xml" Id="Ra0e0e6ac7d194a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02814b72964d17" /><Relationship Type="http://schemas.openxmlformats.org/officeDocument/2006/relationships/notesMaster" Target="/ppt/notesMasters/notesMaster1.xml" Id="R85542591b6254d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ff811614ed4aea" /><Relationship Type="http://schemas.openxmlformats.org/officeDocument/2006/relationships/notesMaster" Target="/ppt/notesMasters/notesMaster1.xml" Id="R66aef039ef3142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bb86ba30fa4c9c" /><Relationship Type="http://schemas.openxmlformats.org/officeDocument/2006/relationships/notesMaster" Target="/ppt/notesMasters/notesMaster1.xml" Id="R699ae6a8ec4f48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a9324b577049ed" /><Relationship Type="http://schemas.openxmlformats.org/officeDocument/2006/relationships/notesMaster" Target="/ppt/notesMasters/notesMaster1.xml" Id="Raa03f31a84454a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d482eb7824abb" /><Relationship Type="http://schemas.openxmlformats.org/officeDocument/2006/relationships/notesMaster" Target="/ppt/notesMasters/notesMaster1.xml" Id="R4e3179dfc924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d2d2d20ad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2ef7f249eb44a4" /><Relationship Type="http://schemas.openxmlformats.org/officeDocument/2006/relationships/slideLayout" Target="/ppt/slideLayouts/slideLayout1.xml" Id="R0e49236888304c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9236888304c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d95a22d664d4f" /><Relationship Type="http://schemas.openxmlformats.org/officeDocument/2006/relationships/image" Target="/ppt/media/image.jpeg" Id="R48cc260f88754b90" /><Relationship Type="http://schemas.openxmlformats.org/officeDocument/2006/relationships/notesSlide" Target="/ppt/notesSlides/notesSlide1.xml" Id="R3bed39a217bf48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1519763cf4cfe" /><Relationship Type="http://schemas.openxmlformats.org/officeDocument/2006/relationships/notesSlide" Target="/ppt/notesSlides/notesSlide2.xml" Id="R4e6c654aed7a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4e12a6ab44bfa" /><Relationship Type="http://schemas.openxmlformats.org/officeDocument/2006/relationships/image" Target="/ppt/media/image2.jpeg" Id="Rb6c90ddab2824120" /><Relationship Type="http://schemas.openxmlformats.org/officeDocument/2006/relationships/notesSlide" Target="/ppt/notesSlides/notesSlide3.xml" Id="Rad062fcfc58148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c8453fa4446b9" /><Relationship Type="http://schemas.openxmlformats.org/officeDocument/2006/relationships/chart" Target="/ppt/slides/charts/chart1.xml" Id="R8347f2bb7986489d" /><Relationship Type="http://schemas.openxmlformats.org/officeDocument/2006/relationships/notesSlide" Target="/ppt/notesSlides/notesSlide4.xml" Id="R695f44d749d34d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c511d1c5b4427" /><Relationship Type="http://schemas.openxmlformats.org/officeDocument/2006/relationships/notesSlide" Target="/ppt/notesSlides/notesSlide5.xml" Id="R8d6d8f00adf14a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599dba0474fe8" /><Relationship Type="http://schemas.openxmlformats.org/officeDocument/2006/relationships/notesSlide" Target="/ppt/notesSlides/notesSlide6.xml" Id="R453a6e8692754ecc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Latency</c:v>
          </c:tx>
          <c:spPr>
            <a:solidFill xmlns:a="http://schemas.openxmlformats.org/drawingml/2006/main">
              <a:srgbClr val="D65F2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Min</c:v>
              </c:pt>
              <c:pt idx="1">
                <c:v>P50</c:v>
              </c:pt>
              <c:pt idx="2">
                <c:v>Avg</c:v>
              </c:pt>
              <c:pt idx="3">
                <c:v>P95</c:v>
              </c:pt>
            </c:strLit>
          </c:cat>
          <c:val>
            <c:numLit>
              <c:formatCode>General</c:formatCode>
              <c:ptCount val="4"/>
              <c:pt idx="0">
                <c:v>1604</c:v>
              </c:pt>
              <c:pt idx="1">
                <c:v>8416</c:v>
              </c:pt>
              <c:pt idx="2">
                <c:v>7577</c:v>
              </c:pt>
              <c:pt idx="3">
                <c:v>13732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C8C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7D8F85F-2559-4BAD-BDE4-8E0A3714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381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5C45"/>
                </a:solidFill>
              </a:defRPr>
            </a:pPr>
            <a:r>
              <a:t>AI TRỢ LÝ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FA5467A-E0EC-421E-B469-139725F2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581025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111"/>
                </a:solidFill>
              </a:defRPr>
            </a:pPr>
            <a:r>
              <a:t>Để mỗi nhân viên tự dùng được AI
trong tuần đầu tiên.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114E860-B7B5-4A3C-A0B2-3B18BD81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5715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5B5B"/>
                </a:solidFill>
              </a:defRPr>
            </a:pPr>
            <a:r>
              <a:t>Gate 3 · Production · Evaluation · Guardrails · Cost</a:t>
            </a:r>
          </a:p>
        </p:txBody>
      </p:sp>
      <p:sp>
        <p:nvSpPr>
          <p:cNvPr id="4" name="cover-url-panel">
            <a:extLst xmlns:a="http://schemas.openxmlformats.org/drawingml/2006/main">
              <a:ext uri="{FF2B5EF4-FFF2-40B4-BE49-F238E27FC236}">
                <a16:creationId xmlns:a16="http://schemas.microsoft.com/office/drawing/2014/main" id="{FA9D42C8-02C2-4CBC-AC51-5061E9D3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2209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url">
            <a:extLst xmlns:a="http://schemas.openxmlformats.org/drawingml/2006/main">
              <a:ext uri="{FF2B5EF4-FFF2-40B4-BE49-F238E27FC236}">
                <a16:creationId xmlns:a16="http://schemas.microsoft.com/office/drawing/2014/main" id="{7F0DF06F-41D2-450D-9795-D229210C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8573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PRODUCTION
c2-app-009.vercel.app</a:t>
            </a:r>
          </a:p>
        </p:txBody>
      </p:sp>
      <p:sp>
        <p:nvSpPr>
          <p:cNvPr id="6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C01FDF87-0045-4CC1-B810-D68DC760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"/>
            <a:ext cx="48387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9338DC23-4C76-4ACC-8965-FD25457F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2143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01  ·  AI TRỢ LÝ  ·  GATE 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c260f88754b90"/>
          <a:srcRect xmlns:a="http://schemas.openxmlformats.org/drawingml/2006/main" l="25140" t="0" r="25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685800"/>
            <a:ext cx="4495800" cy="5086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0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">
            <a:extLst xmlns:a="http://schemas.openxmlformats.org/drawingml/2006/main">
              <a:ext uri="{FF2B5EF4-FFF2-40B4-BE49-F238E27FC236}">
                <a16:creationId xmlns:a16="http://schemas.microsoft.com/office/drawing/2014/main" id="{17592C53-F16A-4E70-8FE9-2FA06FE2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585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</a:defRPr>
            </a:pPr>
            <a:r>
              <a:t>Vấn đề rõ. Giải pháp đi thẳng vào công việc.</a:t>
            </a:r>
          </a:p>
        </p:txBody>
      </p:sp>
      <p:sp>
        <p:nvSpPr>
          <p:cNvPr id="2" name="s2-subtitle">
            <a:extLst xmlns:a="http://schemas.openxmlformats.org/drawingml/2006/main">
              <a:ext uri="{FF2B5EF4-FFF2-40B4-BE49-F238E27FC236}">
                <a16:creationId xmlns:a16="http://schemas.microsoft.com/office/drawing/2014/main" id="{3BF327B0-EFAF-427A-93FB-77F9C9E6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5B5B"/>
                </a:solidFill>
              </a:defRPr>
            </a:pPr>
            <a:r>
              <a:t>Đào tạo tập trung đang đắt, chung chung và khó chứng minh hiệu quả.</a:t>
            </a:r>
          </a:p>
        </p:txBody>
      </p:sp>
      <p:sp>
        <p:nvSpPr>
          <p:cNvPr id="3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B0D065A3-2635-4391-A60C-0092FD75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718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cost">
            <a:extLst xmlns:a="http://schemas.openxmlformats.org/drawingml/2006/main">
              <a:ext uri="{FF2B5EF4-FFF2-40B4-BE49-F238E27FC236}">
                <a16:creationId xmlns:a16="http://schemas.microsoft.com/office/drawing/2014/main" id="{179E12B4-B1E8-4BDA-B2E3-9C11AD1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95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t>2–5 triệu</a:t>
            </a:r>
          </a:p>
        </p:txBody>
      </p:sp>
      <p:sp>
        <p:nvSpPr>
          <p:cNvPr id="5" name="problem-cost-label">
            <a:extLst xmlns:a="http://schemas.openxmlformats.org/drawingml/2006/main">
              <a:ext uri="{FF2B5EF4-FFF2-40B4-BE49-F238E27FC236}">
                <a16:creationId xmlns:a16="http://schemas.microsoft.com/office/drawing/2014/main" id="{66074610-286D-4A47-8795-AFEF530E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t>chi phí đào tạo
mỗi người / mỗi lần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74982270-0F8F-4955-AA7F-B4CBC85E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762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t>Nội dung thường không sát vai trò và nhân viên mới phải học lại từ đầu.</a:t>
            </a:r>
          </a:p>
        </p:txBody>
      </p:sp>
      <p:sp>
        <p:nvSpPr>
          <p:cNvPr id="7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878692F0-9C49-42EE-8EE6-2CCF39FC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35718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1-n">
            <a:extLst xmlns:a="http://schemas.openxmlformats.org/drawingml/2006/main">
              <a:ext uri="{FF2B5EF4-FFF2-40B4-BE49-F238E27FC236}">
                <a16:creationId xmlns:a16="http://schemas.microsoft.com/office/drawing/2014/main" id="{6218D919-78B4-4D13-AA26-070E625D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52675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5C45"/>
                </a:solidFill>
              </a:defRPr>
            </a:pPr>
            <a:r>
              <a:t>01</a:t>
            </a:r>
          </a:p>
        </p:txBody>
      </p:sp>
      <p:sp>
        <p:nvSpPr>
          <p:cNvPr id="9" name="solution-1">
            <a:extLst xmlns:a="http://schemas.openxmlformats.org/drawingml/2006/main">
              <a:ext uri="{FF2B5EF4-FFF2-40B4-BE49-F238E27FC236}">
                <a16:creationId xmlns:a16="http://schemas.microsoft.com/office/drawing/2014/main" id="{BFF2EE3A-80AD-427B-9BB1-BB8D0AB0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Lộ trình theo vai trò</a:t>
            </a:r>
          </a:p>
        </p:txBody>
      </p:sp>
      <p:sp>
        <p:nvSpPr>
          <p:cNvPr id="10" name="solution-2-n">
            <a:extLst xmlns:a="http://schemas.openxmlformats.org/drawingml/2006/main">
              <a:ext uri="{FF2B5EF4-FFF2-40B4-BE49-F238E27FC236}">
                <a16:creationId xmlns:a16="http://schemas.microsoft.com/office/drawing/2014/main" id="{AD2C2532-71B8-434D-AEBD-A0504370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5C45"/>
                </a:solidFill>
              </a:defRPr>
            </a:pPr>
            <a:r>
              <a:t>02</a:t>
            </a:r>
          </a:p>
        </p:txBody>
      </p:sp>
      <p:sp>
        <p:nvSpPr>
          <p:cNvPr id="11" name="solution-2">
            <a:extLst xmlns:a="http://schemas.openxmlformats.org/drawingml/2006/main">
              <a:ext uri="{FF2B5EF4-FFF2-40B4-BE49-F238E27FC236}">
                <a16:creationId xmlns:a16="http://schemas.microsoft.com/office/drawing/2014/main" id="{CCE8705A-9B27-4733-AB61-CD43E2A5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4337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Trợ lý AI đúng nghề</a:t>
            </a:r>
          </a:p>
        </p:txBody>
      </p:sp>
      <p:sp>
        <p:nvSpPr>
          <p:cNvPr id="12" name="proof-panel">
            <a:extLst xmlns:a="http://schemas.openxmlformats.org/drawingml/2006/main">
              <a:ext uri="{FF2B5EF4-FFF2-40B4-BE49-F238E27FC236}">
                <a16:creationId xmlns:a16="http://schemas.microsoft.com/office/drawing/2014/main" id="{15B111CC-8A5E-4F55-BBFA-0A3E2ED4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718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lution-3-n">
            <a:extLst xmlns:a="http://schemas.openxmlformats.org/drawingml/2006/main">
              <a:ext uri="{FF2B5EF4-FFF2-40B4-BE49-F238E27FC236}">
                <a16:creationId xmlns:a16="http://schemas.microsoft.com/office/drawing/2014/main" id="{CB6FA826-4124-4864-B59F-C2DFBFBD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52675"/>
            <a:ext cx="66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solution-3">
            <a:extLst xmlns:a="http://schemas.openxmlformats.org/drawingml/2006/main">
              <a:ext uri="{FF2B5EF4-FFF2-40B4-BE49-F238E27FC236}">
                <a16:creationId xmlns:a16="http://schemas.microsoft.com/office/drawing/2014/main" id="{A53A5856-D166-4764-B4C5-A7E576D7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8575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t>Bằng chứng
 tiến bộ</a:t>
            </a:r>
          </a:p>
        </p:txBody>
      </p:sp>
      <p:sp>
        <p:nvSpPr>
          <p:cNvPr id="15" name="proof-copy">
            <a:extLst xmlns:a="http://schemas.openxmlformats.org/drawingml/2006/main">
              <a:ext uri="{FF2B5EF4-FFF2-40B4-BE49-F238E27FC236}">
                <a16:creationId xmlns:a16="http://schemas.microsoft.com/office/drawing/2014/main" id="{AE764D25-D205-4A6E-B7B3-EF54192D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762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t>Điểm thực hành, tiến độ và số giờ tiết kiệm — đủ dữ liệu để quản lý ra quyết định.</a:t>
            </a:r>
          </a:p>
        </p:txBody>
      </p:sp>
      <p:sp>
        <p:nvSpPr>
          <p:cNvPr id="16" name="footer-2">
            <a:extLst xmlns:a="http://schemas.openxmlformats.org/drawingml/2006/main">
              <a:ext uri="{FF2B5EF4-FFF2-40B4-BE49-F238E27FC236}">
                <a16:creationId xmlns:a16="http://schemas.microsoft.com/office/drawing/2014/main" id="{7637810B-35FB-4890-AEA5-811F468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2143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02  ·  AI TRỢ LÝ  ·  GATE 3</a:t>
            </a:r>
          </a:p>
        </p:txBody>
      </p:sp>
    </p:spTree>
    <p:extLst>
      <p:ext uri="{BB962C8B-B14F-4D97-AF65-F5344CB8AC3E}">
        <p14:creationId xmlns:p14="http://schemas.microsoft.com/office/powerpoint/2010/main" val="1335642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">
            <a:extLst xmlns:a="http://schemas.openxmlformats.org/drawingml/2006/main">
              <a:ext uri="{FF2B5EF4-FFF2-40B4-BE49-F238E27FC236}">
                <a16:creationId xmlns:a16="http://schemas.microsoft.com/office/drawing/2014/main" id="{79A882FC-4793-4A6B-B6A2-101654B7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239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</a:defRPr>
            </a:pPr>
            <a:r>
              <a:t>Production flow đã chạy trên Vercel.</a:t>
            </a:r>
          </a:p>
        </p:txBody>
      </p:sp>
      <p:sp>
        <p:nvSpPr>
          <p:cNvPr id="2" name="s3-image-frame">
            <a:extLst xmlns:a="http://schemas.openxmlformats.org/drawingml/2006/main">
              <a:ext uri="{FF2B5EF4-FFF2-40B4-BE49-F238E27FC236}">
                <a16:creationId xmlns:a16="http://schemas.microsoft.com/office/drawing/2014/main" id="{0EF9842E-AB72-4D5A-B431-900A1AE6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9055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low-1-n">
            <a:extLst xmlns:a="http://schemas.openxmlformats.org/drawingml/2006/main">
              <a:ext uri="{FF2B5EF4-FFF2-40B4-BE49-F238E27FC236}">
                <a16:creationId xmlns:a16="http://schemas.microsoft.com/office/drawing/2014/main" id="{85247C54-E782-4CEF-A19B-A744DB8B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7637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5F2E"/>
                </a:solidFill>
              </a:defRPr>
            </a:pPr>
            <a:r>
              <a:t>01</a:t>
            </a:r>
          </a:p>
        </p:txBody>
      </p: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2112A8DC-D2B8-42C9-B1BB-A683C106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Onboarding</a:t>
            </a:r>
          </a:p>
        </p:txBody>
      </p:sp>
      <p:sp>
        <p:nvSpPr>
          <p:cNvPr id="5" name="flow-1-copy">
            <a:extLst xmlns:a="http://schemas.openxmlformats.org/drawingml/2006/main">
              <a:ext uri="{FF2B5EF4-FFF2-40B4-BE49-F238E27FC236}">
                <a16:creationId xmlns:a16="http://schemas.microsoft.com/office/drawing/2014/main" id="{F35BD4A7-2D29-4DAF-A384-0998970D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3810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t>Chọn vai trò + mức AI hiện tại.</a:t>
            </a:r>
          </a:p>
        </p:txBody>
      </p:sp>
      <p:sp>
        <p:nvSpPr>
          <p:cNvPr id="6" name="flow-2-n">
            <a:extLst xmlns:a="http://schemas.openxmlformats.org/drawingml/2006/main">
              <a:ext uri="{FF2B5EF4-FFF2-40B4-BE49-F238E27FC236}">
                <a16:creationId xmlns:a16="http://schemas.microsoft.com/office/drawing/2014/main" id="{681C1ACA-F138-4A40-AD1C-2A287992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5F2E"/>
                </a:solidFill>
              </a:defRPr>
            </a:pPr>
            <a:r>
              <a:t>02</a:t>
            </a:r>
          </a:p>
        </p:txBody>
      </p:sp>
      <p:sp>
        <p:nvSpPr>
          <p:cNvPr id="7" name="flow-2">
            <a:extLst xmlns:a="http://schemas.openxmlformats.org/drawingml/2006/main">
              <a:ext uri="{FF2B5EF4-FFF2-40B4-BE49-F238E27FC236}">
                <a16:creationId xmlns:a16="http://schemas.microsoft.com/office/drawing/2014/main" id="{51C19E09-A2F5-4414-A5C7-8F05BA3F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19375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Lộ trình</a:t>
            </a:r>
          </a:p>
        </p:txBody>
      </p:sp>
      <p:sp>
        <p:nvSpPr>
          <p:cNvPr id="8" name="flow-2-copy">
            <a:extLst xmlns:a="http://schemas.openxmlformats.org/drawingml/2006/main">
              <a:ext uri="{FF2B5EF4-FFF2-40B4-BE49-F238E27FC236}">
                <a16:creationId xmlns:a16="http://schemas.microsoft.com/office/drawing/2014/main" id="{D4D465F4-AA63-490B-A512-5165F8A5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400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t>Bài học, prompt mẫu và công cụ đúng nghề.</a:t>
            </a:r>
          </a:p>
        </p:txBody>
      </p:sp>
      <p:sp>
        <p:nvSpPr>
          <p:cNvPr id="9" name="flow-3-n">
            <a:extLst xmlns:a="http://schemas.openxmlformats.org/drawingml/2006/main">
              <a:ext uri="{FF2B5EF4-FFF2-40B4-BE49-F238E27FC236}">
                <a16:creationId xmlns:a16="http://schemas.microsoft.com/office/drawing/2014/main" id="{36463A72-E8F0-40E8-BD01-243AFC46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5287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5F2E"/>
                </a:solidFill>
              </a:defRPr>
            </a:pPr>
            <a:r>
              <a:t>03</a:t>
            </a:r>
          </a:p>
        </p:txBody>
      </p:sp>
      <p:sp>
        <p:nvSpPr>
          <p:cNvPr id="10" name="flow-3">
            <a:extLst xmlns:a="http://schemas.openxmlformats.org/drawingml/2006/main">
              <a:ext uri="{FF2B5EF4-FFF2-40B4-BE49-F238E27FC236}">
                <a16:creationId xmlns:a16="http://schemas.microsoft.com/office/drawing/2014/main" id="{80310211-063C-4AB1-A3AF-8AA9BC5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Tutor + chấm bài</a:t>
            </a:r>
          </a:p>
        </p:txBody>
      </p:sp>
      <p:sp>
        <p:nvSpPr>
          <p:cNvPr id="11" name="flow-3-copy">
            <a:extLst xmlns:a="http://schemas.openxmlformats.org/drawingml/2006/main">
              <a:ext uri="{FF2B5EF4-FFF2-40B4-BE49-F238E27FC236}">
                <a16:creationId xmlns:a16="http://schemas.microsoft.com/office/drawing/2014/main" id="{82E3E0CA-4F35-4C0B-BBD7-477929B7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000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t>LLM thật, streaming, guardrails và feedback đo được.</a:t>
            </a:r>
          </a:p>
        </p:txBody>
      </p:sp>
      <p:sp>
        <p:nvSpPr>
          <p:cNvPr id="12" name="production-url">
            <a:extLst xmlns:a="http://schemas.openxmlformats.org/drawingml/2006/main">
              <a:ext uri="{FF2B5EF4-FFF2-40B4-BE49-F238E27FC236}">
                <a16:creationId xmlns:a16="http://schemas.microsoft.com/office/drawing/2014/main" id="{E60B9C9D-8132-4C45-879B-67288884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34000"/>
            <a:ext cx="4619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duction-url-text">
            <a:extLst xmlns:a="http://schemas.openxmlformats.org/drawingml/2006/main">
              <a:ext uri="{FF2B5EF4-FFF2-40B4-BE49-F238E27FC236}">
                <a16:creationId xmlns:a16="http://schemas.microsoft.com/office/drawing/2014/main" id="{B081BB6D-F9D1-480A-8983-6BF606CF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95925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t>https://c2-app-009.vercel.app</a:t>
            </a:r>
          </a:p>
        </p:txBody>
      </p:sp>
      <p:sp>
        <p:nvSpPr>
          <p:cNvPr id="14" name="footer-3">
            <a:extLst xmlns:a="http://schemas.openxmlformats.org/drawingml/2006/main">
              <a:ext uri="{FF2B5EF4-FFF2-40B4-BE49-F238E27FC236}">
                <a16:creationId xmlns:a16="http://schemas.microsoft.com/office/drawing/2014/main" id="{9FFC6CF4-C398-4CD8-9A47-9E0BB21B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2143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03  ·  AI TRỢ LÝ  ·  GATE 3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90ddab2824120"/>
          <a:srcRect xmlns:a="http://schemas.openxmlformats.org/drawingml/2006/main" l="0" t="18854" r="0" b="188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09700"/>
            <a:ext cx="5562600" cy="434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8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">
            <a:extLst xmlns:a="http://schemas.openxmlformats.org/drawingml/2006/main">
              <a:ext uri="{FF2B5EF4-FFF2-40B4-BE49-F238E27FC236}">
                <a16:creationId xmlns:a16="http://schemas.microsoft.com/office/drawing/2014/main" id="{19D6F5AE-F0D4-4FA6-9EEB-B8449658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</a:defRPr>
            </a:pPr>
            <a:r>
              <a:t>Eval baseline + guardrail evidence.</a:t>
            </a:r>
          </a:p>
        </p:txBody>
      </p:sp>
      <p:sp>
        <p:nvSpPr>
          <p:cNvPr id="2" name="latency-chart-panel">
            <a:extLst xmlns:a="http://schemas.openxmlformats.org/drawingml/2006/main">
              <a:ext uri="{FF2B5EF4-FFF2-40B4-BE49-F238E27FC236}">
                <a16:creationId xmlns:a16="http://schemas.microsoft.com/office/drawing/2014/main" id="{B709DC00-CDB9-4941-90DE-56D8E428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334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atency-label">
            <a:extLst xmlns:a="http://schemas.openxmlformats.org/drawingml/2006/main">
              <a:ext uri="{FF2B5EF4-FFF2-40B4-BE49-F238E27FC236}">
                <a16:creationId xmlns:a16="http://schemas.microsoft.com/office/drawing/2014/main" id="{A0408592-7DFD-464F-A180-F3091E88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Full-response latency · milliseconds</a:t>
            </a:r>
          </a:p>
        </p:txBody>
      </p:sp>
      <p:sp>
        <p:nvSpPr>
          <p:cNvPr id="4" name="quality-metric">
            <a:extLst xmlns:a="http://schemas.openxmlformats.org/drawingml/2006/main">
              <a:ext uri="{FF2B5EF4-FFF2-40B4-BE49-F238E27FC236}">
                <a16:creationId xmlns:a16="http://schemas.microsoft.com/office/drawing/2014/main" id="{4611BD5D-C28C-4859-965D-24644141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90650"/>
            <a:ext cx="2190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t>83,3%</a:t>
            </a:r>
          </a:p>
        </p:txBody>
      </p:sp>
      <p:sp>
        <p:nvSpPr>
          <p:cNvPr id="5" name="quality-copy">
            <a:extLst xmlns:a="http://schemas.openxmlformats.org/drawingml/2006/main">
              <a:ext uri="{FF2B5EF4-FFF2-40B4-BE49-F238E27FC236}">
                <a16:creationId xmlns:a16="http://schemas.microsoft.com/office/drawing/2014/main" id="{914AD104-C669-43D5-BE71-43FA2052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19325"/>
            <a:ext cx="2476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t>pass hoặc partial
trên 6 test cases</a:t>
            </a:r>
          </a:p>
        </p:txBody>
      </p:sp>
      <p:sp>
        <p:nvSpPr>
          <p:cNvPr id="6" name="guardrail-metric">
            <a:extLst xmlns:a="http://schemas.openxmlformats.org/drawingml/2006/main">
              <a:ext uri="{FF2B5EF4-FFF2-40B4-BE49-F238E27FC236}">
                <a16:creationId xmlns:a16="http://schemas.microsoft.com/office/drawing/2014/main" id="{42CC5761-DB01-4221-8A4B-2901438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90650"/>
            <a:ext cx="2190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t>23/23</a:t>
            </a:r>
          </a:p>
        </p:txBody>
      </p:sp>
      <p:sp>
        <p:nvSpPr>
          <p:cNvPr id="7" name="guardrail-copy">
            <a:extLst xmlns:a="http://schemas.openxmlformats.org/drawingml/2006/main">
              <a:ext uri="{FF2B5EF4-FFF2-40B4-BE49-F238E27FC236}">
                <a16:creationId xmlns:a16="http://schemas.microsoft.com/office/drawing/2014/main" id="{835A71CD-AE50-4D0B-814D-3DEF7197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19325"/>
            <a:ext cx="2476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t>targeted guardrail
tests passed</a:t>
            </a:r>
          </a:p>
        </p:txBody>
      </p:sp>
      <p:sp>
        <p:nvSpPr>
          <p:cNvPr id="8" name="guardrail-panel">
            <a:extLst xmlns:a="http://schemas.openxmlformats.org/drawingml/2006/main">
              <a:ext uri="{FF2B5EF4-FFF2-40B4-BE49-F238E27FC236}">
                <a16:creationId xmlns:a16="http://schemas.microsoft.com/office/drawing/2014/main" id="{1A686B73-2DEB-4DF6-9DB4-C9DE9360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048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uardrail-label">
            <a:extLst xmlns:a="http://schemas.openxmlformats.org/drawingml/2006/main">
              <a:ext uri="{FF2B5EF4-FFF2-40B4-BE49-F238E27FC236}">
                <a16:creationId xmlns:a16="http://schemas.microsoft.com/office/drawing/2014/main" id="{BA6B3FC4-7EFC-4131-B9A8-DC37BEFA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GUARDRAILS</a:t>
            </a:r>
          </a:p>
        </p:txBody>
      </p:sp>
      <p:sp>
        <p:nvSpPr>
          <p:cNvPr id="10" name="guardrail-list">
            <a:extLst xmlns:a="http://schemas.openxmlformats.org/drawingml/2006/main">
              <a:ext uri="{FF2B5EF4-FFF2-40B4-BE49-F238E27FC236}">
                <a16:creationId xmlns:a16="http://schemas.microsoft.com/office/drawing/2014/main" id="{796326B1-0108-4CCA-A477-FD168C5B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91000"/>
            <a:ext cx="4381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t>PII warning · prompt-injection sanitization
scope boundary · rate limit · auth + RLS
admin API authorization</a:t>
            </a:r>
          </a:p>
        </p:txBody>
      </p:sp>
      <p:sp>
        <p:nvSpPr>
          <p:cNvPr id="11" name="footer-4">
            <a:extLst xmlns:a="http://schemas.openxmlformats.org/drawingml/2006/main">
              <a:ext uri="{FF2B5EF4-FFF2-40B4-BE49-F238E27FC236}">
                <a16:creationId xmlns:a16="http://schemas.microsoft.com/office/drawing/2014/main" id="{038D9CC5-A974-4E90-B623-63DD9406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2143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04  ·  AI TRỢ LÝ  ·  GATE 3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23900" y="2095500"/>
          <a:ext xmlns:a="http://schemas.openxmlformats.org/drawingml/2006/main" cx="46672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47f2bb7986489d"/>
          </a:graphicData>
        </a:graphic>
      </p:graphicFrame>
    </p:spTree>
    <p:extLst>
      <p:ext uri="{BB962C8B-B14F-4D97-AF65-F5344CB8AC3E}">
        <p14:creationId xmlns:p14="http://schemas.microsoft.com/office/powerpoint/2010/main" val="743747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">
            <a:extLst xmlns:a="http://schemas.openxmlformats.org/drawingml/2006/main">
              <a:ext uri="{FF2B5EF4-FFF2-40B4-BE49-F238E27FC236}">
                <a16:creationId xmlns:a16="http://schemas.microsoft.com/office/drawing/2014/main" id="{59AB53A7-23B5-455E-A84B-6E08BBAE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00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</a:defRPr>
            </a:pPr>
            <a:r>
              <a:t>Cost guardrail vẫn giữ được ở kịch bản cao.</a:t>
            </a:r>
          </a:p>
        </p:txBody>
      </p:sp>
      <p:sp>
        <p:nvSpPr>
          <p:cNvPr id="2" name="s5-subtitle">
            <a:extLst xmlns:a="http://schemas.openxmlformats.org/drawingml/2006/main">
              <a:ext uri="{FF2B5EF4-FFF2-40B4-BE49-F238E27FC236}">
                <a16:creationId xmlns:a16="http://schemas.microsoft.com/office/drawing/2014/main" id="{859129D5-AFCF-4A59-993E-15BF82A2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28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5B5B"/>
                </a:solidFill>
              </a:defRPr>
            </a:pPr>
            <a:r>
              <a:t>Model-only estimate · gpt-4o-mini · đã gồm 25% contingency</a:t>
            </a:r>
          </a:p>
        </p:txBody>
      </p:sp>
      <p:sp>
        <p:nvSpPr>
          <p:cNvPr id="3" name="cost-low">
            <a:extLst xmlns:a="http://schemas.openxmlformats.org/drawingml/2006/main">
              <a:ext uri="{FF2B5EF4-FFF2-40B4-BE49-F238E27FC236}">
                <a16:creationId xmlns:a16="http://schemas.microsoft.com/office/drawing/2014/main" id="{2A2C9154-22F9-448F-915F-E2A4241E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st-low-label">
            <a:extLst xmlns:a="http://schemas.openxmlformats.org/drawingml/2006/main">
              <a:ext uri="{FF2B5EF4-FFF2-40B4-BE49-F238E27FC236}">
                <a16:creationId xmlns:a16="http://schemas.microsoft.com/office/drawing/2014/main" id="{C2A21741-BC78-41A9-8AC5-1B4BDEEF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B5B"/>
                </a:solidFill>
              </a:defRPr>
            </a:pPr>
            <a:r>
              <a:t>LOW</a:t>
            </a:r>
          </a:p>
        </p:txBody>
      </p:sp>
      <p:sp>
        <p:nvSpPr>
          <p:cNvPr id="5" name="cost-low-value">
            <a:extLst xmlns:a="http://schemas.openxmlformats.org/drawingml/2006/main">
              <a:ext uri="{FF2B5EF4-FFF2-40B4-BE49-F238E27FC236}">
                <a16:creationId xmlns:a16="http://schemas.microsoft.com/office/drawing/2014/main" id="{4588DDEE-0956-4920-BBD8-2D86CABB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857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t>~505đ</a:t>
            </a:r>
          </a:p>
        </p:txBody>
      </p:sp>
      <p:sp>
        <p:nvSpPr>
          <p:cNvPr id="6" name="cost-low-copy">
            <a:extLst xmlns:a="http://schemas.openxmlformats.org/drawingml/2006/main">
              <a:ext uri="{FF2B5EF4-FFF2-40B4-BE49-F238E27FC236}">
                <a16:creationId xmlns:a16="http://schemas.microsoft.com/office/drawing/2014/main" id="{C1E91E79-ADD2-4045-8B87-5FD079E0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76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t>20 chat calls / month</a:t>
            </a:r>
          </a:p>
        </p:txBody>
      </p:sp>
      <p:sp>
        <p:nvSpPr>
          <p:cNvPr id="7" name="cost-base">
            <a:extLst xmlns:a="http://schemas.openxmlformats.org/drawingml/2006/main">
              <a:ext uri="{FF2B5EF4-FFF2-40B4-BE49-F238E27FC236}">
                <a16:creationId xmlns:a16="http://schemas.microsoft.com/office/drawing/2014/main" id="{40D1EF55-0F95-41CA-A7D8-5F799820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st-base-label">
            <a:extLst xmlns:a="http://schemas.openxmlformats.org/drawingml/2006/main">
              <a:ext uri="{FF2B5EF4-FFF2-40B4-BE49-F238E27FC236}">
                <a16:creationId xmlns:a16="http://schemas.microsoft.com/office/drawing/2014/main" id="{09B35CC2-0AB8-4E52-AF84-60C859F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38375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5C45"/>
                </a:solidFill>
              </a:defRPr>
            </a:pPr>
            <a:r>
              <a:t>BASE</a:t>
            </a:r>
          </a:p>
        </p:txBody>
      </p:sp>
      <p:sp>
        <p:nvSpPr>
          <p:cNvPr id="9" name="cost-base-value">
            <a:extLst xmlns:a="http://schemas.openxmlformats.org/drawingml/2006/main">
              <a:ext uri="{FF2B5EF4-FFF2-40B4-BE49-F238E27FC236}">
                <a16:creationId xmlns:a16="http://schemas.microsoft.com/office/drawing/2014/main" id="{2C95D6D8-2185-4D80-9310-12C06A74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62250"/>
            <a:ext cx="29527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35C45"/>
                </a:solidFill>
              </a:defRPr>
            </a:pPr>
            <a:r>
              <a:t>~1.488đ</a:t>
            </a:r>
          </a:p>
        </p:txBody>
      </p:sp>
      <p:sp>
        <p:nvSpPr>
          <p:cNvPr id="10" name="cost-base-copy">
            <a:extLst xmlns:a="http://schemas.openxmlformats.org/drawingml/2006/main">
              <a:ext uri="{FF2B5EF4-FFF2-40B4-BE49-F238E27FC236}">
                <a16:creationId xmlns:a16="http://schemas.microsoft.com/office/drawing/2014/main" id="{3B0435FA-F04E-47E7-AF21-AE710A8F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10000"/>
            <a:ext cx="276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t>60 chat calls / month</a:t>
            </a:r>
          </a:p>
        </p:txBody>
      </p:sp>
      <p:sp>
        <p:nvSpPr>
          <p:cNvPr id="11" name="cost-high">
            <a:extLst xmlns:a="http://schemas.openxmlformats.org/drawingml/2006/main">
              <a:ext uri="{FF2B5EF4-FFF2-40B4-BE49-F238E27FC236}">
                <a16:creationId xmlns:a16="http://schemas.microsoft.com/office/drawing/2014/main" id="{E068B356-F969-4FCD-AC9A-A5662487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st-high-label">
            <a:extLst xmlns:a="http://schemas.openxmlformats.org/drawingml/2006/main">
              <a:ext uri="{FF2B5EF4-FFF2-40B4-BE49-F238E27FC236}">
                <a16:creationId xmlns:a16="http://schemas.microsoft.com/office/drawing/2014/main" id="{ED2B7180-8C30-4025-ACD3-AAEBB76E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3" name="cost-high-value">
            <a:extLst xmlns:a="http://schemas.openxmlformats.org/drawingml/2006/main">
              <a:ext uri="{FF2B5EF4-FFF2-40B4-BE49-F238E27FC236}">
                <a16:creationId xmlns:a16="http://schemas.microsoft.com/office/drawing/2014/main" id="{600DF06A-099F-484A-8234-3B3C47A5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30480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t>~20.468đ</a:t>
            </a:r>
          </a:p>
        </p:txBody>
      </p:sp>
      <p:sp>
        <p:nvSpPr>
          <p:cNvPr id="14" name="cost-high-copy">
            <a:extLst xmlns:a="http://schemas.openxmlformats.org/drawingml/2006/main">
              <a:ext uri="{FF2B5EF4-FFF2-40B4-BE49-F238E27FC236}">
                <a16:creationId xmlns:a16="http://schemas.microsoft.com/office/drawing/2014/main" id="{A8610B6E-4C8B-44CF-AC12-B9A0F2E3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76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t>30 chat calls / day</a:t>
            </a:r>
          </a:p>
        </p:txBody>
      </p:sp>
      <p:sp>
        <p:nvSpPr>
          <p:cNvPr id="15" name="cost-ceiling">
            <a:extLst xmlns:a="http://schemas.openxmlformats.org/drawingml/2006/main">
              <a:ext uri="{FF2B5EF4-FFF2-40B4-BE49-F238E27FC236}">
                <a16:creationId xmlns:a16="http://schemas.microsoft.com/office/drawing/2014/main" id="{EEAC189A-4220-4814-BCCF-3E555DD2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666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t>Business ceiling: ~22.000đ / user / month</a:t>
            </a:r>
          </a:p>
        </p:txBody>
      </p:sp>
      <p:sp>
        <p:nvSpPr>
          <p:cNvPr id="16" name="cost-source">
            <a:extLst xmlns:a="http://schemas.openxmlformats.org/drawingml/2006/main">
              <a:ext uri="{FF2B5EF4-FFF2-40B4-BE49-F238E27FC236}">
                <a16:creationId xmlns:a16="http://schemas.microsoft.com/office/drawing/2014/main" id="{EEC76027-D261-480C-9344-43719F6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72125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5B5B"/>
                </a:solidFill>
              </a:defRPr>
            </a:pPr>
            <a:r>
              <a:t>Giá nguồn: OpenAI gpt-4o-mini — $0.15 input / $0.60 output trên 1M tokens.</a:t>
            </a:r>
          </a:p>
        </p:txBody>
      </p:sp>
      <p:sp>
        <p:nvSpPr>
          <p:cNvPr id="17" name="footer-5">
            <a:extLst xmlns:a="http://schemas.openxmlformats.org/drawingml/2006/main">
              <a:ext uri="{FF2B5EF4-FFF2-40B4-BE49-F238E27FC236}">
                <a16:creationId xmlns:a16="http://schemas.microsoft.com/office/drawing/2014/main" id="{DF1F1B19-D3DE-41E2-A43D-4B858D94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2143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05  ·  AI TRỢ LÝ  ·  GATE 3</a:t>
            </a:r>
          </a:p>
        </p:txBody>
      </p:sp>
    </p:spTree>
    <p:extLst>
      <p:ext uri="{BB962C8B-B14F-4D97-AF65-F5344CB8AC3E}">
        <p14:creationId xmlns:p14="http://schemas.microsoft.com/office/powerpoint/2010/main" val="486978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">
            <a:extLst xmlns:a="http://schemas.openxmlformats.org/drawingml/2006/main">
              <a:ext uri="{FF2B5EF4-FFF2-40B4-BE49-F238E27FC236}">
                <a16:creationId xmlns:a16="http://schemas.microsoft.com/office/drawing/2014/main" id="{142C0E9A-CFD0-4768-85F1-85E2EFA2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00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</a:defRPr>
            </a:pPr>
            <a:r>
              <a:t>Gate 3 package đã sẵn sàng để chốt.</a:t>
            </a:r>
          </a:p>
        </p:txBody>
      </p:sp>
      <p:sp>
        <p:nvSpPr>
          <p:cNvPr id="2" name="readiness-list">
            <a:extLst xmlns:a="http://schemas.openxmlformats.org/drawingml/2006/main">
              <a:ext uri="{FF2B5EF4-FFF2-40B4-BE49-F238E27FC236}">
                <a16:creationId xmlns:a16="http://schemas.microsoft.com/office/drawing/2014/main" id="{B6F4FED1-E626-4EBA-93D2-ADA5CF1C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7239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ady-1-check">
            <a:extLst xmlns:a="http://schemas.openxmlformats.org/drawingml/2006/main">
              <a:ext uri="{FF2B5EF4-FFF2-40B4-BE49-F238E27FC236}">
                <a16:creationId xmlns:a16="http://schemas.microsoft.com/office/drawing/2014/main" id="{B6025243-2B07-4AE9-8CB2-3C6E11CC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5C45"/>
                </a:solidFill>
              </a:defRPr>
            </a:pPr>
            <a:r>
              <a:t>✓</a:t>
            </a:r>
          </a:p>
        </p:txBody>
      </p:sp>
      <p:sp>
        <p:nvSpPr>
          <p:cNvPr id="4" name="ready-1">
            <a:extLst xmlns:a="http://schemas.openxmlformats.org/drawingml/2006/main">
              <a:ext uri="{FF2B5EF4-FFF2-40B4-BE49-F238E27FC236}">
                <a16:creationId xmlns:a16="http://schemas.microsoft.com/office/drawing/2014/main" id="{E99E6F04-5566-4B01-9919-580DBB7E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Production URL</a:t>
            </a:r>
          </a:p>
        </p:txBody>
      </p:sp>
      <p:sp>
        <p:nvSpPr>
          <p:cNvPr id="5" name="ready-2-check">
            <a:extLst xmlns:a="http://schemas.openxmlformats.org/drawingml/2006/main">
              <a:ext uri="{FF2B5EF4-FFF2-40B4-BE49-F238E27FC236}">
                <a16:creationId xmlns:a16="http://schemas.microsoft.com/office/drawing/2014/main" id="{EE6EB229-AAC8-4D9F-9F3D-C377C9E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5C45"/>
                </a:solidFill>
              </a:defRPr>
            </a:pPr>
            <a:r>
              <a:t>✓</a:t>
            </a:r>
          </a:p>
        </p:txBody>
      </p:sp>
      <p:sp>
        <p:nvSpPr>
          <p:cNvPr id="6" name="ready-2">
            <a:extLst xmlns:a="http://schemas.openxmlformats.org/drawingml/2006/main">
              <a:ext uri="{FF2B5EF4-FFF2-40B4-BE49-F238E27FC236}">
                <a16:creationId xmlns:a16="http://schemas.microsoft.com/office/drawing/2014/main" id="{723F760D-CEEE-4E54-BB14-229DD4C4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0325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Evaluation metrics + baseline</a:t>
            </a:r>
          </a:p>
        </p:txBody>
      </p:sp>
      <p:sp>
        <p:nvSpPr>
          <p:cNvPr id="7" name="ready-3-check">
            <a:extLst xmlns:a="http://schemas.openxmlformats.org/drawingml/2006/main">
              <a:ext uri="{FF2B5EF4-FFF2-40B4-BE49-F238E27FC236}">
                <a16:creationId xmlns:a16="http://schemas.microsoft.com/office/drawing/2014/main" id="{B402CFF7-5D16-47B8-8D96-A37F7069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5C45"/>
                </a:solidFill>
              </a:defRPr>
            </a:pPr>
            <a:r>
              <a:t>✓</a:t>
            </a:r>
          </a:p>
        </p:txBody>
      </p:sp>
      <p:sp>
        <p:nvSpPr>
          <p:cNvPr id="8" name="ready-3">
            <a:extLst xmlns:a="http://schemas.openxmlformats.org/drawingml/2006/main">
              <a:ext uri="{FF2B5EF4-FFF2-40B4-BE49-F238E27FC236}">
                <a16:creationId xmlns:a16="http://schemas.microsoft.com/office/drawing/2014/main" id="{A7676D1D-EB94-4664-AD91-84386E45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Guardrails + automated evidence</a:t>
            </a:r>
          </a:p>
        </p:txBody>
      </p:sp>
      <p:sp>
        <p:nvSpPr>
          <p:cNvPr id="9" name="ready-4-check">
            <a:extLst xmlns:a="http://schemas.openxmlformats.org/drawingml/2006/main">
              <a:ext uri="{FF2B5EF4-FFF2-40B4-BE49-F238E27FC236}">
                <a16:creationId xmlns:a16="http://schemas.microsoft.com/office/drawing/2014/main" id="{226C2846-EE13-4301-AAAE-2D07F493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5C45"/>
                </a:solidFill>
              </a:defRPr>
            </a:pPr>
            <a:r>
              <a:t>✓</a:t>
            </a:r>
          </a:p>
        </p:txBody>
      </p:sp>
      <p:sp>
        <p:nvSpPr>
          <p:cNvPr id="10" name="ready-4">
            <a:extLst xmlns:a="http://schemas.openxmlformats.org/drawingml/2006/main">
              <a:ext uri="{FF2B5EF4-FFF2-40B4-BE49-F238E27FC236}">
                <a16:creationId xmlns:a16="http://schemas.microsoft.com/office/drawing/2014/main" id="{B14ED622-94BD-4C34-8EB2-ACCB75E0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Cost / user / month</a:t>
            </a:r>
          </a:p>
        </p:txBody>
      </p:sp>
      <p:sp>
        <p:nvSpPr>
          <p:cNvPr id="11" name="ready-5-check">
            <a:extLst xmlns:a="http://schemas.openxmlformats.org/drawingml/2006/main">
              <a:ext uri="{FF2B5EF4-FFF2-40B4-BE49-F238E27FC236}">
                <a16:creationId xmlns:a16="http://schemas.microsoft.com/office/drawing/2014/main" id="{9F4A8BD6-35C7-47C3-9D25-96F3B09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65F2E"/>
                </a:solidFill>
              </a:defRPr>
            </a:pPr>
            <a:r>
              <a:t>●</a:t>
            </a:r>
          </a:p>
        </p:txBody>
      </p:sp>
      <p:sp>
        <p:nvSpPr>
          <p:cNvPr id="12" name="ready-5">
            <a:extLst xmlns:a="http://schemas.openxmlformats.org/drawingml/2006/main">
              <a:ext uri="{FF2B5EF4-FFF2-40B4-BE49-F238E27FC236}">
                <a16:creationId xmlns:a16="http://schemas.microsoft.com/office/drawing/2014/main" id="{40B99E09-5AC5-49E6-A9BC-645C953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561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Còn lại: quay + upload video mới</a:t>
            </a:r>
          </a:p>
        </p:txBody>
      </p:sp>
      <p:sp>
        <p:nvSpPr>
          <p:cNvPr id="13" name="next-step">
            <a:extLst xmlns:a="http://schemas.openxmlformats.org/drawingml/2006/main">
              <a:ext uri="{FF2B5EF4-FFF2-40B4-BE49-F238E27FC236}">
                <a16:creationId xmlns:a16="http://schemas.microsoft.com/office/drawing/2014/main" id="{BC56985F-C545-4992-B9C3-A999D270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6957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ext-label">
            <a:extLst xmlns:a="http://schemas.openxmlformats.org/drawingml/2006/main">
              <a:ext uri="{FF2B5EF4-FFF2-40B4-BE49-F238E27FC236}">
                <a16:creationId xmlns:a16="http://schemas.microsoft.com/office/drawing/2014/main" id="{BA530E40-CFC7-4236-9D57-BA0D0537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15" name="next-title">
            <a:extLst xmlns:a="http://schemas.openxmlformats.org/drawingml/2006/main">
              <a:ext uri="{FF2B5EF4-FFF2-40B4-BE49-F238E27FC236}">
                <a16:creationId xmlns:a16="http://schemas.microsoft.com/office/drawing/2014/main" id="{22D57B1A-DF93-49A8-AE69-1BD041BD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952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t>Pilot
1 doanh nghiệp</a:t>
            </a:r>
          </a:p>
        </p:txBody>
      </p:sp>
      <p:sp>
        <p:nvSpPr>
          <p:cNvPr id="16" name="next-copy">
            <a:extLst xmlns:a="http://schemas.openxmlformats.org/drawingml/2006/main">
              <a:ext uri="{FF2B5EF4-FFF2-40B4-BE49-F238E27FC236}">
                <a16:creationId xmlns:a16="http://schemas.microsoft.com/office/drawing/2014/main" id="{50FD0EDF-0B30-4B0A-ACCE-BAD42724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33875"/>
            <a:ext cx="29051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t>Đo activation, chất lượng tutor,
giờ tiết kiệm và cost thực tế.</a:t>
            </a:r>
          </a:p>
        </p:txBody>
      </p:sp>
      <p:sp>
        <p:nvSpPr>
          <p:cNvPr id="17" name="footer-6">
            <a:extLst xmlns:a="http://schemas.openxmlformats.org/drawingml/2006/main">
              <a:ext uri="{FF2B5EF4-FFF2-40B4-BE49-F238E27FC236}">
                <a16:creationId xmlns:a16="http://schemas.microsoft.com/office/drawing/2014/main" id="{EDAEB7C7-6BEC-4C24-8716-54D3046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29375"/>
            <a:ext cx="2143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5B5B"/>
                </a:solidFill>
              </a:defRPr>
            </a:pPr>
            <a:r>
              <a:t>06  ·  AI TRỢ LÝ  ·  GATE 3</a:t>
            </a:r>
          </a:p>
        </p:txBody>
      </p:sp>
    </p:spTree>
    <p:extLst>
      <p:ext uri="{BB962C8B-B14F-4D97-AF65-F5344CB8AC3E}">
        <p14:creationId xmlns:p14="http://schemas.microsoft.com/office/powerpoint/2010/main" val="1747868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2026-06-25T02:50:28.6860000Z</dcterms:created>
  <dcterms:modified xsi:type="dcterms:W3CDTF">2026-06-25T02:50:28.6860000Z</dcterms:modified>
</coreProperties>
</file>